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Kanit Light"/>
      <p:regular r:id="rId17"/>
    </p:embeddedFont>
    <p:embeddedFont>
      <p:font typeface="Kanit Light"/>
      <p:regular r:id="rId18"/>
    </p:embeddedFont>
    <p:embeddedFont>
      <p:font typeface="Kanit Light"/>
      <p:regular r:id="rId19"/>
    </p:embeddedFont>
    <p:embeddedFont>
      <p:font typeface="Kanit Light"/>
      <p:regular r:id="rId20"/>
    </p:embeddedFont>
    <p:embeddedFont>
      <p:font typeface="Martel Sans"/>
      <p:regular r:id="rId21"/>
    </p:embeddedFont>
    <p:embeddedFont>
      <p:font typeface="Martel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mailto:thanhnt@teecom.vn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46885"/>
            <a:ext cx="1118080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Giới thiệu Nền tảng Product Intelligence (PIP)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0929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PIP là công cụ cung cấp dữ liệu review đã qua xử lý từ Amazon, hỗ trợ nghiên cứu sản phẩm và phản ứng thị trường.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527346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224" y="376178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3706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5390" y="3948827"/>
            <a:ext cx="306110" cy="3061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8224" y="46690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Công cụ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8224" y="5159454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Product Intelligence Platform (PIP)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3527346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51396" y="376178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3706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562" y="3948827"/>
            <a:ext cx="306110" cy="3061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51396" y="46690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Mục tiêu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51396" y="5159454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Cung cấp dữ liệu review đã xử lý từ Amazon để hỗ trợ R&amp;D và phát triển sản phẩm.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9640133" y="3527346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874568" y="376178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3706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61734" y="3948827"/>
            <a:ext cx="306110" cy="3061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74568" y="46690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Đối tượng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874568" y="5159454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Bộ phận R&amp;D, Product Development.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12896"/>
            <a:ext cx="633150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Cơ chế hoạt động của PIP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7530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730347"/>
            <a:ext cx="4196358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904655"/>
            <a:ext cx="3843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Thu thập dữ liệu (On-Demand)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395073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Dữ liệu được thu thập theo yêu cầu hoặc từ kho có sẵn.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337530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730347"/>
            <a:ext cx="4196358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9046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Chiến lược lấy mẫu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4395073"/>
            <a:ext cx="419635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Lấy mẫu phân tầng theo số sao (ví dụ: 100 review/mức sao) để phân tích đa chiều. Tổng review phụ thuộc vào sản phẩm (tối đa ~500).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337530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730347"/>
            <a:ext cx="4196358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904655"/>
            <a:ext cx="32469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AI Hỗ trợ (LLM Gemini 3.0)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4395073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Phân tích ngữ nghĩa, tóm tắt nội dung và đưa ra góc nhìn tham khảo, tiết kiệm thời gian đọc hiểu.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05288"/>
            <a:ext cx="107419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Tính năng: Tổng quan (Executive Summary)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467695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467695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437066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7249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Product DNA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4215408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Tự động trích xuất thông số kỹ thuật (Material, Niche, Brand...) từ trang sản phẩm.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467695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6482" y="3467695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437066"/>
          </a:solidFill>
          <a:ln/>
        </p:spPr>
      </p:sp>
      <p:sp>
        <p:nvSpPr>
          <p:cNvPr id="9" name="Text 7"/>
          <p:cNvSpPr/>
          <p:nvPr/>
        </p:nvSpPr>
        <p:spPr>
          <a:xfrm>
            <a:off x="5565696" y="37249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Biến thể (Variations)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65696" y="4215408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Tự động phát hiện và liệt kê các Child ASINs có review, giúp xác định biến thể bán chạy.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3467695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9653" y="3467695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437066"/>
          </a:solidFill>
          <a:ln/>
        </p:spPr>
      </p:sp>
      <p:sp>
        <p:nvSpPr>
          <p:cNvPr id="13" name="Text 11"/>
          <p:cNvSpPr/>
          <p:nvPr/>
        </p:nvSpPr>
        <p:spPr>
          <a:xfrm>
            <a:off x="9988868" y="37249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Priority Actions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88868" y="4215408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Gợi ý Top 3 vấn đề nổi cộm nhất khách hàng phàn nàn dựa trên tần suất từ khóa tiêu cực và số lượng review thực tế.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72471"/>
            <a:ext cx="1281362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Tính năng: Thấu hiểu khách hàng (Customer X-Ray)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482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Phân tích cảm xúc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529370"/>
            <a:ext cx="6244709" cy="1814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Raw Volume: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Số lượng ý kiến đếm được trong mẫu, thấy xu hướng nhỏ, chi tiết.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Impact Score: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Ước tính quy mô thật trên toàn thị trường. Tính bằng tỷ lệ khách hàng nhắc đến vấn đề trong mẫu nhân với tổng số review trên Amazon.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54806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Giúp nhìn thấy quy mô thật của từng vấn đề, tránh tập trung vào lời chê đơn lẻ.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29482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Heatmap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352937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So sánh nhanh mức độ quan tâm và hài lòng của khách hàng giữa nhiều sản phẩm cạnh tranh.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12263"/>
            <a:ext cx="1156061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Tính năng: So sánh đối thủ (Market Showdown)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414832"/>
            <a:ext cx="6407944" cy="2902387"/>
          </a:xfrm>
          <a:prstGeom prst="roundRect">
            <a:avLst>
              <a:gd name="adj" fmla="val 5041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3384352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43706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540" y="3074670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37066"/>
          </a:solidFill>
          <a:ln/>
        </p:spPr>
      </p:sp>
      <p:sp>
        <p:nvSpPr>
          <p:cNvPr id="6" name="Text 4"/>
          <p:cNvSpPr/>
          <p:nvPr/>
        </p:nvSpPr>
        <p:spPr>
          <a:xfrm>
            <a:off x="3861614" y="3244810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39818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Chế độ so sánh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4472226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Smart Matching: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Đề xuất đối thủ có Rating tương đồng (+/- 30%) và cùng phân khúc.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51084" y="5334119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Manual Selection: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Tự chọn đối thủ từ danh sách.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428548" y="3414832"/>
            <a:ext cx="6408063" cy="2902387"/>
          </a:xfrm>
          <a:prstGeom prst="roundRect">
            <a:avLst>
              <a:gd name="adj" fmla="val 5041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7428548" y="3384352"/>
            <a:ext cx="6408063" cy="121920"/>
          </a:xfrm>
          <a:prstGeom prst="roundRect">
            <a:avLst>
              <a:gd name="adj" fmla="val 78139"/>
            </a:avLst>
          </a:prstGeom>
          <a:solidFill>
            <a:srgbClr val="437066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92298" y="3074670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37066"/>
          </a:solidFill>
          <a:ln/>
        </p:spPr>
      </p:sp>
      <p:sp>
        <p:nvSpPr>
          <p:cNvPr id="13" name="Text 11"/>
          <p:cNvSpPr/>
          <p:nvPr/>
        </p:nvSpPr>
        <p:spPr>
          <a:xfrm>
            <a:off x="10496371" y="3244810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685842" y="39818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Proven Quality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85842" y="4472226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Ưu tiên số lượng khách hàng hài lòng thực tế (Absolute Volume).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685842" y="5334119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Sản phẩm có nhiều review hài lòng thực tế sẽ được đánh giá cao hơn, bất kể rating trung bình.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91051"/>
            <a:ext cx="85109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Tính năng: Trợ lý AI (Strategy Hub)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853458"/>
            <a:ext cx="6407944" cy="1685092"/>
          </a:xfrm>
          <a:prstGeom prst="roundRect">
            <a:avLst>
              <a:gd name="adj" fmla="val 565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40878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Chat với Dữ liệu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4578310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Hỏi đáp trực tiếp với AI, yêu cầu AI đưa ra dẫn chứng (Quotes) từ review để kiểm chứng.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3853458"/>
            <a:ext cx="6408063" cy="1685092"/>
          </a:xfrm>
          <a:prstGeom prst="roundRect">
            <a:avLst>
              <a:gd name="adj" fmla="val 565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62982" y="4087892"/>
            <a:ext cx="30009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Quick Prompts linh hoạt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62982" y="4578310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Các câu lệnh mẫu (Viết Content, Tóm tắt Insight) dựa trên dữ liệu ASIN, có thể tùy chỉnh.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73292"/>
            <a:ext cx="922532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Lộ trình phát triển (Phasing Strategy)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3569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Triết lý: "Làm đúng việc - Đúng thời điểm", tập trung vào giá trị cốt lõi của sản phẩm.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630436" y="3353753"/>
            <a:ext cx="6571417" cy="3302556"/>
          </a:xfrm>
          <a:prstGeom prst="roundRect">
            <a:avLst>
              <a:gd name="adj" fmla="val 4945"/>
            </a:avLst>
          </a:prstGeom>
          <a:solidFill>
            <a:srgbClr val="437066"/>
          </a:solidFill>
          <a:ln/>
        </p:spPr>
      </p:sp>
      <p:sp>
        <p:nvSpPr>
          <p:cNvPr id="5" name="Text 3"/>
          <p:cNvSpPr/>
          <p:nvPr/>
        </p:nvSpPr>
        <p:spPr>
          <a:xfrm>
            <a:off x="857250" y="3580567"/>
            <a:ext cx="42531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Phase 1 (Hiện tại - Product Insight)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7250" y="4161711"/>
            <a:ext cx="6117788" cy="2177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Đối tượng: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R&amp;D / Product Developers.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Mục tiêu: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Cải tiến sản phẩm cũ &amp; định hình sản phẩm mới.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Chức năng: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Phân tích Sản phẩm, Tìm kiếm "Khoảng trống" (Gap Analysis).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Giới hạn: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Chỉ tập trung vào khía cạnh sản phẩm.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580567"/>
            <a:ext cx="42927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Phase 2 (Tương lai - Market Radar)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416171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Mục tiêu: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Mở rộng quan sát sang Mạng xã hội (Social Listening) để bắt trend sớm cho R&amp;D.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18943"/>
            <a:ext cx="86583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Phản hồi &amp; Hỗ trợ (Feedback Loop)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8135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Chúng tôi luôn lắng nghe mọi yêu cầu thêm tính năng hoặc báo lỗi để hoàn thiện hệ thống.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799403"/>
            <a:ext cx="6407944" cy="2411254"/>
          </a:xfrm>
          <a:prstGeom prst="roundRect">
            <a:avLst>
              <a:gd name="adj" fmla="val 3951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4270" y="3829883"/>
            <a:ext cx="6346984" cy="680442"/>
          </a:xfrm>
          <a:prstGeom prst="roundRect">
            <a:avLst>
              <a:gd name="adj" fmla="val 8626"/>
            </a:avLst>
          </a:prstGeom>
          <a:solidFill>
            <a:srgbClr val="DFECE9"/>
          </a:solidFill>
          <a:ln/>
        </p:spPr>
      </p:sp>
      <p:sp>
        <p:nvSpPr>
          <p:cNvPr id="6" name="Text 4"/>
          <p:cNvSpPr/>
          <p:nvPr/>
        </p:nvSpPr>
        <p:spPr>
          <a:xfrm>
            <a:off x="3827621" y="395358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051084" y="47371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Liên hệ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5227558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Email: </a:t>
            </a:r>
            <a:pPr algn="l" indent="0" marL="0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thanhnt@teecom.vn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(MS-Team: T0408 - Ngô Trí Thanh).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3799403"/>
            <a:ext cx="6408063" cy="2411254"/>
          </a:xfrm>
          <a:prstGeom prst="roundRect">
            <a:avLst>
              <a:gd name="adj" fmla="val 3951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59027" y="3829883"/>
            <a:ext cx="6347103" cy="680442"/>
          </a:xfrm>
          <a:prstGeom prst="roundRect">
            <a:avLst>
              <a:gd name="adj" fmla="val 8626"/>
            </a:avLst>
          </a:prstGeom>
          <a:solidFill>
            <a:srgbClr val="DFECE9"/>
          </a:solidFill>
          <a:ln/>
        </p:spPr>
      </p:sp>
      <p:sp>
        <p:nvSpPr>
          <p:cNvPr id="11" name="Text 9"/>
          <p:cNvSpPr/>
          <p:nvPr/>
        </p:nvSpPr>
        <p:spPr>
          <a:xfrm>
            <a:off x="10462498" y="395358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7685842" y="47371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Mục tiêu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85842" y="5227558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Xây dựng công cụ nghiên cứu sản phẩm thực dụng, sát với nhu cầu thực tế.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62582"/>
            <a:ext cx="1042844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Tính minh bạch &amp; Giới hạn (Transparency)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63310" y="3694509"/>
            <a:ext cx="60960" cy="2002988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4" name="Text 2"/>
          <p:cNvSpPr/>
          <p:nvPr/>
        </p:nvSpPr>
        <p:spPr>
          <a:xfrm>
            <a:off x="1081564" y="37249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Về dữ liệu (Sampling)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81564" y="4215408"/>
            <a:ext cx="387084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Hệ thống lấy mẫu 10 trang review mới nhất cho mỗi loại sao để phản ánh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Xu hướng hiện tại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, phù hợp với nghiên cứu thị trường.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05413" y="3694509"/>
            <a:ext cx="60960" cy="2002988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7" name="Text 5"/>
          <p:cNvSpPr/>
          <p:nvPr/>
        </p:nvSpPr>
        <p:spPr>
          <a:xfrm>
            <a:off x="5523667" y="37249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Về tốc độ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523667" y="4215408"/>
            <a:ext cx="387084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Việc cập nhật ASIN mới mất 5-10 phút/lượt xử lý (Batch) do phụ thuộc truy xuất dữ liệu từ Amazon.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7515" y="3694509"/>
            <a:ext cx="60960" cy="2002988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0" name="Text 8"/>
          <p:cNvSpPr/>
          <p:nvPr/>
        </p:nvSpPr>
        <p:spPr>
          <a:xfrm>
            <a:off x="9965769" y="37249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Về độ chính xác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965769" y="4215408"/>
            <a:ext cx="387084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AI tự động tổng hợp, phân loại dữ liệu từ hàng ngàn review gốc thành thông tin có cấu trúc, giúp tập trung phân tích chiến lược.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37880"/>
            <a:ext cx="108049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Quy trình sử dụng (Usage Flow - Summary)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00288"/>
            <a:ext cx="6521410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34343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Đăng nhập &amp; Lựa chọn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3924776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Chọn ASIN có sẵn hoặc yêu cầu mã mới.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300288"/>
            <a:ext cx="6521410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42014" y="34343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Xử lý dữ liệu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542014" y="3924776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Hệ thống xử lý tự động 5-10 phút cho yêu cầu mới.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514493"/>
            <a:ext cx="6521410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0604" y="56485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Phân tích đa chiều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20604" y="6138982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Sử dụng các Tab Executive, X-Ray và Showdown.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514493"/>
            <a:ext cx="6521410" cy="9072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42014" y="56485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Khai thác Insight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542014" y="6138982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Dùng Strategy Hub để trò chuyện với AI và trích xuất chiến lược.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2026-01-28T03:47:01Z</dcterms:created>
  <dcterms:modified xsi:type="dcterms:W3CDTF">2026-01-28T03:47:01Z</dcterms:modified>
</cp:coreProperties>
</file>